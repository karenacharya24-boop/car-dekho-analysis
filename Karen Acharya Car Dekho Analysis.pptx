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2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enacharya24-boop/car-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enacharya24-boop/car-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enacharya24-boop/car-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karenacharya24@gmail.com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karenacharya24-boop/car-dekho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2360" y="4958944"/>
            <a:ext cx="3400089" cy="861497"/>
          </a:xfrm>
        </p:spPr>
        <p:txBody>
          <a:bodyPr>
            <a:normAutofit/>
          </a:bodyPr>
          <a:lstStyle/>
          <a:p>
            <a:pPr algn="r"/>
            <a:r>
              <a:rPr lang="en-US" sz="2400" b="0" dirty="0">
                <a:solidFill>
                  <a:schemeClr val="tx1"/>
                </a:solidFill>
              </a:rPr>
              <a:t>[Karen Acharya]</a:t>
            </a:r>
          </a:p>
          <a:p>
            <a:pPr algn="r"/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021" y="866715"/>
            <a:ext cx="4320074" cy="2066213"/>
          </a:xfrm>
        </p:spPr>
        <p:txBody>
          <a:bodyPr>
            <a:noAutofit/>
          </a:bodyPr>
          <a:lstStyle/>
          <a:p>
            <a:r>
              <a:rPr lang="en-IN" sz="4400" b="1" i="1" dirty="0"/>
              <a:t>Car Dekho Market Trends Analysis 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207925" y="4660159"/>
            <a:ext cx="6587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AICTE STU ID : </a:t>
            </a:r>
            <a:r>
              <a:rPr lang="en-IN" sz="2000" dirty="0"/>
              <a:t>STU6a66eedfe85331785130719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0642" y="1489594"/>
            <a:ext cx="6433969" cy="4351369"/>
          </a:xfrm>
        </p:spPr>
        <p:txBody>
          <a:bodyPr>
            <a:noAutofit/>
          </a:bodyPr>
          <a:lstStyle/>
          <a:p>
            <a:pPr lvl="0">
              <a:lnSpc>
                <a:spcPct val="110000"/>
              </a:lnSpc>
            </a:pPr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used car market lacks transparent pricing benchmarks, making it difficult for buyers and sellers to assess fair valuation and predict vehicle depreciation.</a:t>
            </a:r>
          </a:p>
          <a:p>
            <a:pPr lvl="0">
              <a:lnSpc>
                <a:spcPct val="110000"/>
              </a:lnSpc>
            </a:pPr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Addressed:</a:t>
            </a:r>
          </a:p>
          <a:p>
            <a:pPr lvl="1">
              <a:lnSpc>
                <a:spcPct val="11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historical vehicle manufacturing year ranges and price distributions?</a:t>
            </a:r>
          </a:p>
          <a:p>
            <a:pPr lvl="1">
              <a:lnSpc>
                <a:spcPct val="11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vehicle models and fuel types experience the fastest depreciation?</a:t>
            </a:r>
          </a:p>
          <a:p>
            <a:pPr lvl="1">
              <a:lnSpc>
                <a:spcPct val="11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strong is the correlation between vehicle age/mileage and overall market price loss?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BF2FBC7-3552-4F01-BB27-8BEEE74F72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59933" y="1377449"/>
                <a:ext cx="9093194" cy="5063742"/>
              </a:xfrm>
            </p:spPr>
            <p:txBody>
              <a:bodyPr>
                <a:noAutofit/>
              </a:bodyPr>
              <a:lstStyle/>
              <a:p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Used Car Market Trends &amp; Depreciation Analysis project is an Exploratory Data Analysis (EDA) initiative analysing secondary automobile market dynamics using Python and Car Dekho marketplace data. </a:t>
                </a:r>
                <a:b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Implementation Points: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Processing: </a:t>
                </a: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Cleans raw marketplace data by stripping duplicate listings (yielding 299 verified entries) and standardizing numeric fields for analysis. 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Engineering: </a:t>
                </a: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Computes crucial financial indicators including vehicle age, absolute price drop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Present Price</m:t>
                    </m:r>
                    <m:r>
                      <a:rPr lang="en-IN" sz="1600" b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Selling Price</m:t>
                    </m:r>
                  </m:oMath>
                </a14:m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and percentage depreciation. 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 Dashboards: </a:t>
                </a: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Utilizes matplotlib and seaborn to build analytical layouts showing fuel-type distribution, listing price ranges, and owner breakdown.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Modelling</a:t>
                </a: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Identifies vehicle age and kilometres driven as the primary drivers behind resale price degradation. </a:t>
                </a:r>
                <a:b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Brand Evaluation: </a:t>
                </a: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Benchmarks model retention rates, revealing high value retention for brands like Honda, Hyundai, and Maruti versus high luxury depreciation. </a:t>
                </a:r>
                <a:b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Outcomes: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data-backed pricing insights for second-hand car buyers, private sellers, and commercial dealerships to evaluate fair market value. </a:t>
                </a:r>
                <a:b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BF2FBC7-3552-4F01-BB27-8BEEE74F7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9933" y="1377449"/>
                <a:ext cx="9093194" cy="5063742"/>
              </a:xfrm>
              <a:blipFill>
                <a:blip r:embed="rId2"/>
                <a:stretch>
                  <a:fillRect l="-402" t="-361" r="-6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378CD128-CAC4-283F-6341-B1E13788351C}"/>
              </a:ext>
            </a:extLst>
          </p:cNvPr>
          <p:cNvSpPr txBox="1">
            <a:spLocks/>
          </p:cNvSpPr>
          <p:nvPr/>
        </p:nvSpPr>
        <p:spPr>
          <a:xfrm>
            <a:off x="759933" y="574808"/>
            <a:ext cx="10046070" cy="802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730103"/>
            <a:ext cx="8292012" cy="3990023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 &amp; Target Audience: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Car Buyers: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Individuals looking to purchase pre-owned vehicles who need transparent data on fair market prices, budget-friendly models, and vehicles with lower long-term depreciation.</a:t>
            </a:r>
          </a:p>
          <a:p>
            <a:pPr lvl="0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Sellers &amp; Dealerships: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 owners and commercial used-car dealers seeking data-driven pricing benchmarks to value listings competitively based on mileage and brand retention.</a:t>
            </a:r>
          </a:p>
          <a:p>
            <a:pPr lvl="0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Automotive Market Analysts: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Industry researchers evaluating market trends across fuel types (Petrol, Diesel, CNG), transmission models (Manual vs. Automatic), and single-owner valuation premiums.</a:t>
            </a:r>
          </a:p>
          <a:p>
            <a:pPr lvl="0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&amp; Insurance Evaluators: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Professionals estimating vehicle residual value and collateral risk based on age and usage correlations.</a:t>
            </a:r>
          </a:p>
          <a:p>
            <a:pPr algn="just"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689688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4236" y="1844558"/>
            <a:ext cx="8186679" cy="3951203"/>
          </a:xfrm>
        </p:spPr>
        <p:txBody>
          <a:bodyPr>
            <a:normAutofit/>
          </a:bodyPr>
          <a:lstStyle/>
          <a:p>
            <a:pPr lvl="0"/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</a:p>
          <a:p>
            <a:pPr lvl="0"/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endParaRPr lang="en-IN" sz="1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Data loading, cleaning, manipulation, and feature engineering</a:t>
            </a:r>
          </a:p>
          <a:p>
            <a:pPr lvl="1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Array computation and numerical metrics calculation</a:t>
            </a:r>
          </a:p>
          <a:p>
            <a:pPr lvl="1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Base visualization canvas and subplot layout configuration</a:t>
            </a:r>
          </a:p>
          <a:p>
            <a:pPr lvl="1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Distribution boxplots and correlation heatmap generation</a:t>
            </a:r>
          </a:p>
          <a:p>
            <a:pPr lvl="0"/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IN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/ Jupyter Notebook / GitHub repository hosting</a:t>
            </a:r>
          </a:p>
          <a:p>
            <a:pPr lvl="1"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73110"/>
            <a:ext cx="6102220" cy="84781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1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4BE58-ED89-5A83-315D-C957A503538C}"/>
              </a:ext>
            </a:extLst>
          </p:cNvPr>
          <p:cNvSpPr txBox="1"/>
          <p:nvPr/>
        </p:nvSpPr>
        <p:spPr>
          <a:xfrm>
            <a:off x="2901050" y="5844569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G</a:t>
            </a:r>
            <a:r>
              <a:rPr lang="en-IN" dirty="0">
                <a:hlinkClick r:id="rId3"/>
              </a:rPr>
              <a:t>ithub Link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9EE3E7-17F1-8459-CC17-B620CF563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400" y="1480321"/>
            <a:ext cx="3066639" cy="3909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71957F-44C8-119F-8A3B-638510732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859" y="1480321"/>
            <a:ext cx="3437175" cy="38973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E0BF8D-3B53-A9C8-1107-C59E9D508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01" y="1518541"/>
            <a:ext cx="3442392" cy="38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B7CD7199-2C66-9508-D583-DC81CFDF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1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C5CA5-20F8-E2A9-D409-F935594BF9BC}"/>
              </a:ext>
            </a:extLst>
          </p:cNvPr>
          <p:cNvSpPr txBox="1"/>
          <p:nvPr/>
        </p:nvSpPr>
        <p:spPr>
          <a:xfrm>
            <a:off x="2714981" y="582715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G</a:t>
            </a:r>
            <a:r>
              <a:rPr lang="en-IN" dirty="0">
                <a:hlinkClick r:id="rId3"/>
              </a:rPr>
              <a:t>ithub Link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D0BF33-A483-C519-5817-83E3E39D2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910" y="2374968"/>
            <a:ext cx="3601409" cy="2428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C7FD0D-D9C5-AD26-DD08-993F063B3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310" y="2390048"/>
            <a:ext cx="3343562" cy="2397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48260F-9C36-D76B-CBCF-3F3FF8956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57" y="1602125"/>
            <a:ext cx="3263483" cy="394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E386-508C-B06F-C4E8-5CA5061F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EEA6A-2A5D-6BF6-DE90-1940673942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71127D3-F97B-3DEC-8784-241C467EF5C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75A5272B-B2A4-F5BA-82BA-1D1669767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1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F47EDD-0F04-FC2B-5B4C-BBA8AC682D0D}"/>
              </a:ext>
            </a:extLst>
          </p:cNvPr>
          <p:cNvSpPr txBox="1"/>
          <p:nvPr/>
        </p:nvSpPr>
        <p:spPr>
          <a:xfrm>
            <a:off x="2714981" y="582715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G</a:t>
            </a:r>
            <a:r>
              <a:rPr lang="en-IN" dirty="0">
                <a:hlinkClick r:id="rId3"/>
              </a:rPr>
              <a:t>ithub Link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EBC02-0872-D6C6-C8B7-6C8DCBACD6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0" r="33752"/>
          <a:stretch>
            <a:fillRect/>
          </a:stretch>
        </p:blipFill>
        <p:spPr>
          <a:xfrm>
            <a:off x="810383" y="1442833"/>
            <a:ext cx="3184826" cy="3744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FEAD92-4BBC-EFA8-11A2-40A94386F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58" r="6243"/>
          <a:stretch>
            <a:fillRect/>
          </a:stretch>
        </p:blipFill>
        <p:spPr>
          <a:xfrm>
            <a:off x="4306778" y="1034836"/>
            <a:ext cx="3578443" cy="4560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6B35B7-3E6F-979D-D12C-6696BBEA6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6790" y="2580225"/>
            <a:ext cx="2876001" cy="146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3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5045" y="2138724"/>
            <a:ext cx="5617028" cy="3189055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[Karen Acharya]</a:t>
            </a:r>
          </a:p>
          <a:p>
            <a:r>
              <a:rPr lang="en-US" dirty="0">
                <a:solidFill>
                  <a:schemeClr val="tx1"/>
                </a:solidFill>
              </a:rPr>
              <a:t>AICTE STU ID : </a:t>
            </a:r>
            <a:r>
              <a:rPr lang="en-IN" b="0" dirty="0">
                <a:solidFill>
                  <a:schemeClr val="tx1"/>
                </a:solidFill>
              </a:rPr>
              <a:t>STU6a66eedfe85331785130719</a:t>
            </a:r>
          </a:p>
          <a:p>
            <a:r>
              <a:rPr lang="en-IN" dirty="0">
                <a:solidFill>
                  <a:schemeClr val="tx1"/>
                </a:solidFill>
              </a:rPr>
              <a:t>Email: </a:t>
            </a:r>
            <a:r>
              <a:rPr lang="en-IN" b="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karenacharya24@gmail.com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Mobile No.: </a:t>
            </a:r>
            <a:r>
              <a:rPr lang="en-IN" b="0" dirty="0">
                <a:solidFill>
                  <a:schemeClr val="tx1"/>
                </a:solidFill>
              </a:rPr>
              <a:t>8697355268</a:t>
            </a:r>
          </a:p>
          <a:p>
            <a:r>
              <a:rPr lang="en-IN" dirty="0">
                <a:solidFill>
                  <a:schemeClr val="tx1"/>
                </a:solidFill>
              </a:rPr>
              <a:t>Github Link: </a:t>
            </a:r>
            <a:r>
              <a:rPr lang="en-IN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https://github.com/karenacharya24-boop/car-dekho-analysis</a:t>
            </a:r>
            <a:endParaRPr lang="en-IN" b="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IN" b="0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647</TotalTime>
  <Words>505</Words>
  <Application>Microsoft Office PowerPoint</Application>
  <PresentationFormat>Widescreen</PresentationFormat>
  <Paragraphs>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Facet</vt:lpstr>
      <vt:lpstr>Car Dekho Market Trends Analysis </vt:lpstr>
      <vt:lpstr>PROBLEM  STATEMENT</vt:lpstr>
      <vt:lpstr>The Used Car Market Trends &amp; Depreciation Analysis project is an Exploratory Data Analysis (EDA) initiative analysing secondary automobile market dynamics using Python and Car Dekho marketplace data.   Key Implementation Points: Data Processing: Cleans raw marketplace data by stripping duplicate listings (yielding 299 verified entries) and standardizing numeric fields for analysis.  Feature Engineering: Computes crucial financial indicators including vehicle age, absolute price drop ("Present Price"-"Selling Price"), and percentage depreciation.  Visual Dashboards: Utilizes matplotlib and seaborn to build analytical layouts showing fuel-type distribution, listing price ranges, and owner breakdown. Correlation Modelling: Identifies vehicle age and kilometres driven as the primary drivers behind resale price degradation.  Brand Evaluation: Benchmarks model retention rates, revealing high value retention for brands like Honda, Hyundai, and Maruti versus high luxury depreciation.   Target Outcomes: Provides data-backed pricing insights for second-hand car buyers, private sellers, and commercial dealerships to evaluate fair market value.   </vt:lpstr>
      <vt:lpstr>WHO ARE THE END USERS?</vt:lpstr>
      <vt:lpstr>TECHNOLOGY USED:</vt:lpstr>
      <vt:lpstr>RESULTS: </vt:lpstr>
      <vt:lpstr>RESULTS: </vt:lpstr>
      <vt:lpstr>RESULTS: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Karen Acharya</cp:lastModifiedBy>
  <cp:revision>77</cp:revision>
  <dcterms:created xsi:type="dcterms:W3CDTF">2021-07-11T13:13:15Z</dcterms:created>
  <dcterms:modified xsi:type="dcterms:W3CDTF">2026-08-30T10:27:03Z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